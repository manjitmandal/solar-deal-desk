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al" id="{ebfb8c82-5f48-bdf8-dbb1-91d4fb24d42e}">
          <p14:sldIdLst>
            <p14:sldId id="256"/>
            <p14:sldId id="257"/>
          </p14:sldIdLst>
        </p14:section>
        <p14:section name="Value &amp; risk" id="{73cd315f-384b-ae26-c750-4a119800ab04}">
          <p14:sldIdLst>
            <p14:sldId id="258"/>
            <p14:sldId id="259"/>
          </p14:sldIdLst>
        </p14:section>
        <p14:section name="Pipeline" id="{55791e3c-b92e-f0fb-d7df-7910b8da2df2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Price ladder (INR/Wp)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INR/Wp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Min. acceptable (12% CM)</c:v>
                  </c:pt>
                  <c:pt idx="1">
                    <c:v>Competitor B offer</c:v>
                  </c:pt>
                  <c:pt idx="2">
                    <c:v>Our net price</c:v>
                  </c:pt>
                  <c:pt idx="3">
                    <c:v>Customer budget</c:v>
                  </c:pt>
                  <c:pt idx="4">
                    <c:v>List price</c:v>
                  </c:pt>
                  <c:pt idx="5">
                    <c:v>Customer break-even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7.53</c:v>
                </c:pt>
                <c:pt idx="1">
                  <c:v>7.6</c:v>
                </c:pt>
                <c:pt idx="2">
                  <c:v>7.86</c:v>
                </c:pt>
                <c:pt idx="3">
                  <c:v>8</c:v>
                </c:pt>
                <c:pt idx="4">
                  <c:v>8.1</c:v>
                </c:pt>
                <c:pt idx="5">
                  <c:v>10.54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Monthly yield, kWh per kWp (PVGIS simulated, fictional site)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Fixed-tilt (PVGIS)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160.1</c:v>
                </c:pt>
                <c:pt idx="1">
                  <c:v>150.9</c:v>
                </c:pt>
                <c:pt idx="2">
                  <c:v>164.5</c:v>
                </c:pt>
                <c:pt idx="3">
                  <c:v>155.5</c:v>
                </c:pt>
                <c:pt idx="4">
                  <c:v>150.1</c:v>
                </c:pt>
                <c:pt idx="5">
                  <c:v>132.4</c:v>
                </c:pt>
                <c:pt idx="6">
                  <c:v>120.5</c:v>
                </c:pt>
                <c:pt idx="7">
                  <c:v>119.7</c:v>
                </c:pt>
                <c:pt idx="8">
                  <c:v>133.2</c:v>
                </c:pt>
                <c:pt idx="9">
                  <c:v>155.4</c:v>
                </c:pt>
                <c:pt idx="10">
                  <c:v>148.4</c:v>
                </c:pt>
                <c:pt idx="11">
                  <c:v>156.6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Tracker planning case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164.4</c:v>
                </c:pt>
                <c:pt idx="1">
                  <c:v>165.9</c:v>
                </c:pt>
                <c:pt idx="2">
                  <c:v>193.4</c:v>
                </c:pt>
                <c:pt idx="3">
                  <c:v>197.7</c:v>
                </c:pt>
                <c:pt idx="4">
                  <c:v>203.3</c:v>
                </c:pt>
                <c:pt idx="5">
                  <c:v>178.8</c:v>
                </c:pt>
                <c:pt idx="6">
                  <c:v>153.8</c:v>
                </c:pt>
                <c:pt idx="7">
                  <c:v>145</c:v>
                </c:pt>
                <c:pt idx="8">
                  <c:v>157.4</c:v>
                </c:pt>
                <c:pt idx="9">
                  <c:v>173.8</c:v>
                </c:pt>
                <c:pt idx="10">
                  <c:v>153.3</c:v>
                </c:pt>
                <c:pt idx="11">
                  <c:v>157.2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2514E"/>
                    </a:solidFill>
                    <a:latin typeface="Arial"/>
                  </a:rPr>
                  <a:t>kWh/kWp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Contribution margin % vs steel price change (FX at 94.95)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CM % at proposed price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−15%</c:v>
                  </c:pt>
                  <c:pt idx="1">
                    <c:v>−10%</c:v>
                  </c:pt>
                  <c:pt idx="2">
                    <c:v>−5%</c:v>
                  </c:pt>
                  <c:pt idx="3">
                    <c:v>0%</c:v>
                  </c:pt>
                  <c:pt idx="4">
                    <c:v>+5%</c:v>
                  </c:pt>
                  <c:pt idx="5">
                    <c:v>+10%</c:v>
                  </c:pt>
                  <c:pt idx="6">
                    <c:v>+15%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24.2</c:v>
                </c:pt>
                <c:pt idx="1">
                  <c:v>21.3</c:v>
                </c:pt>
                <c:pt idx="2">
                  <c:v>18.5</c:v>
                </c:pt>
                <c:pt idx="3">
                  <c:v>15.6</c:v>
                </c:pt>
                <c:pt idx="4">
                  <c:v>12.7</c:v>
                </c:pt>
                <c:pt idx="5">
                  <c:v>9.9</c:v>
                </c:pt>
                <c:pt idx="6">
                  <c:v>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CM floor 12%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−15%</c:v>
                  </c:pt>
                  <c:pt idx="1">
                    <c:v>−10%</c:v>
                  </c:pt>
                  <c:pt idx="2">
                    <c:v>−5%</c:v>
                  </c:pt>
                  <c:pt idx="3">
                    <c:v>0%</c:v>
                  </c:pt>
                  <c:pt idx="4">
                    <c:v>+5%</c:v>
                  </c:pt>
                  <c:pt idx="5">
                    <c:v>+10%</c:v>
                  </c:pt>
                  <c:pt idx="6">
                    <c:v>+15%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Q4-2026 forecast by weekly snapshot (USD m, synthetic)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forecast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07/03</c:v>
                  </c:pt>
                  <c:pt idx="1">
                    <c:v>07/10</c:v>
                  </c:pt>
                  <c:pt idx="2">
                    <c:v>07/17</c:v>
                  </c:pt>
                  <c:pt idx="3">
                    <c:v>07/24</c:v>
                  </c:pt>
                  <c:pt idx="4">
                    <c:v>07/31</c:v>
                  </c:pt>
                  <c:pt idx="5">
                    <c:v>08/07</c:v>
                  </c:pt>
                  <c:pt idx="6">
                    <c:v>08/14</c:v>
                  </c:pt>
                  <c:pt idx="7">
                    <c:v>08/21</c:v>
                  </c:pt>
                  <c:pt idx="8">
                    <c:v>08/28</c:v>
                  </c:pt>
                  <c:pt idx="9">
                    <c:v>09/04</c:v>
                  </c:pt>
                  <c:pt idx="10">
                    <c:v>09/11</c:v>
                  </c:pt>
                  <c:pt idx="11">
                    <c:v>09/18</c:v>
                  </c:pt>
                  <c:pt idx="12">
                    <c:v>09/25</c:v>
                  </c:pt>
                  <c:pt idx="13">
                    <c:v>10/02</c:v>
                  </c:pt>
                  <c:pt idx="14">
                    <c:v>10/09</c:v>
                  </c:pt>
                  <c:pt idx="15">
                    <c:v>10/16</c:v>
                  </c:pt>
                  <c:pt idx="16">
                    <c:v>10/23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88.8</c:v>
                </c:pt>
                <c:pt idx="1">
                  <c:v>102.5</c:v>
                </c:pt>
                <c:pt idx="2">
                  <c:v>127.9</c:v>
                </c:pt>
                <c:pt idx="3">
                  <c:v>133.1</c:v>
                </c:pt>
                <c:pt idx="4">
                  <c:v>154.8</c:v>
                </c:pt>
                <c:pt idx="5">
                  <c:v>180</c:v>
                </c:pt>
                <c:pt idx="6">
                  <c:v>189.7</c:v>
                </c:pt>
                <c:pt idx="7">
                  <c:v>202.3</c:v>
                </c:pt>
                <c:pt idx="8">
                  <c:v>227.1</c:v>
                </c:pt>
                <c:pt idx="9">
                  <c:v>245.5</c:v>
                </c:pt>
                <c:pt idx="10">
                  <c:v>265.9</c:v>
                </c:pt>
                <c:pt idx="11">
                  <c:v>288.2</c:v>
                </c:pt>
                <c:pt idx="12">
                  <c:v>312.3</c:v>
                </c:pt>
                <c:pt idx="13">
                  <c:v>324.8</c:v>
                </c:pt>
                <c:pt idx="14">
                  <c:v>337.2</c:v>
                </c:pt>
                <c:pt idx="15">
                  <c:v>329.4</c:v>
                </c:pt>
                <c:pt idx="16">
                  <c:v>352.8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 won + Commit</c:v>
                </c:pt>
              </c:strCache>
            </c:strRef>
          </c:tx>
          <c:spPr>
            <a:solidFill>
              <a:srgbClr val="F2A900"/>
            </a:solidFill>
            <a:ln w="254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07/03</c:v>
                  </c:pt>
                  <c:pt idx="1">
                    <c:v>07/10</c:v>
                  </c:pt>
                  <c:pt idx="2">
                    <c:v>07/17</c:v>
                  </c:pt>
                  <c:pt idx="3">
                    <c:v>07/24</c:v>
                  </c:pt>
                  <c:pt idx="4">
                    <c:v>07/31</c:v>
                  </c:pt>
                  <c:pt idx="5">
                    <c:v>08/07</c:v>
                  </c:pt>
                  <c:pt idx="6">
                    <c:v>08/14</c:v>
                  </c:pt>
                  <c:pt idx="7">
                    <c:v>08/21</c:v>
                  </c:pt>
                  <c:pt idx="8">
                    <c:v>08/28</c:v>
                  </c:pt>
                  <c:pt idx="9">
                    <c:v>09/04</c:v>
                  </c:pt>
                  <c:pt idx="10">
                    <c:v>09/11</c:v>
                  </c:pt>
                  <c:pt idx="11">
                    <c:v>09/18</c:v>
                  </c:pt>
                  <c:pt idx="12">
                    <c:v>09/25</c:v>
                  </c:pt>
                  <c:pt idx="13">
                    <c:v>10/02</c:v>
                  </c:pt>
                  <c:pt idx="14">
                    <c:v>10/09</c:v>
                  </c:pt>
                  <c:pt idx="15">
                    <c:v>10/16</c:v>
                  </c:pt>
                  <c:pt idx="16">
                    <c:v>10/23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15.5</c:v>
                </c:pt>
                <c:pt idx="9">
                  <c:v>15.5</c:v>
                </c:pt>
                <c:pt idx="10">
                  <c:v>15.5</c:v>
                </c:pt>
                <c:pt idx="11">
                  <c:v>53.3</c:v>
                </c:pt>
                <c:pt idx="12">
                  <c:v>69.1</c:v>
                </c:pt>
                <c:pt idx="13">
                  <c:v>145.6</c:v>
                </c:pt>
                <c:pt idx="14">
                  <c:v>187.8</c:v>
                </c:pt>
                <c:pt idx="15">
                  <c:v>234.5</c:v>
                </c:pt>
                <c:pt idx="16">
                  <c:v>263.8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Win rate by value proposition (closed deals, synthetic)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Local manufacturing (n=9)</c:v>
                  </c:pt>
                  <c:pt idx="1">
                    <c:v>Lowest capex (n=17)</c:v>
                  </c:pt>
                  <c:pt idx="2">
                    <c:v>Fast delivery (n=13)</c:v>
                  </c:pt>
                  <c:pt idx="3">
                    <c:v>Energy yield gain (n=30)</c:v>
                  </c:pt>
                  <c:pt idx="4">
                    <c:v>Bankability &amp; warranty (n=17)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24</c:v>
                </c:pt>
                <c:pt idx="2">
                  <c:v>31</c:v>
                </c:pt>
                <c:pt idx="3">
                  <c:v>47</c:v>
                </c:pt>
                <c:pt idx="4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one connected deal from customer brief to forecast. All companies fictional. Energy is PVGIS-simulated; costs and pipeline are synthetic assumptions documented in the Assumptions sheet and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Quote_Calculator and Sensitivity sheets. Approval matrix: Manager &lt;=3%, Director &lt;=6%, VP &lt;=10%, CFO above or below CM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PVGIS models ideal tracking with no backtracking or row shading, so only 70% of the simulated gain is used. A bankable case would use PVsyst with the real layout. Labelled as simulated, not manufacturer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Sensitivity sheet, Table 1 and Table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151 synthetic opportunities in Salesforce (Developer Edition). Weighted = amount x stage probability. Snapshots every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samples per group: directional only. SQL in queries.sql; Excel version in Pipeline_Analytics.xlsx Win_Loss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SunAxis Trackers (fictional) | Portfolio project | Energy = PVGIS simulated; costs &amp; pipeline = SYNTHETIC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Thar Sun 100 MWp: deal-desk recommendation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Single-axis tracker quote, margin check, customer value case and Q4 forecast  |  Manjit Mandal  |  24-Oct-2026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Fictional customer and supplier: portfolio project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Quote at 3% discount: healthy margin, within authority</a:t>
            </a:r>
            <a:endParaRPr lang="en-US" sz="3000" dirty="0"/>
          </a:p>
        </p:txBody>
      </p:sp>
      <p:sp>
        <p:nvSpPr>
          <p:cNvPr id="3" name="stat-card"/>
          <p:cNvSpPr/>
          <p:nvPr/>
        </p:nvSpPr>
        <p:spPr>
          <a:xfrm>
            <a:off x="548640" y="141732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27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₹7.86/Wp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67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 price (list ₹8.10, −3%)</a:t>
            </a:r>
            <a:endParaRPr lang="en-US" sz="1300" dirty="0"/>
          </a:p>
        </p:txBody>
      </p:sp>
      <p:sp>
        <p:nvSpPr>
          <p:cNvPr id="6" name="stat-card"/>
          <p:cNvSpPr/>
          <p:nvPr/>
        </p:nvSpPr>
        <p:spPr>
          <a:xfrm>
            <a:off x="3383280" y="141732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27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₹78.6 cr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67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Contract value (≈ USD 8.27M)</a:t>
            </a:r>
            <a:endParaRPr lang="en-US" sz="1300" dirty="0"/>
          </a:p>
        </p:txBody>
      </p:sp>
      <p:sp>
        <p:nvSpPr>
          <p:cNvPr id="9" name="stat-card"/>
          <p:cNvSpPr/>
          <p:nvPr/>
        </p:nvSpPr>
        <p:spPr>
          <a:xfrm>
            <a:off x="6217920" y="141732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67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Contribution margin (floor 12%, target 18%)</a:t>
            </a:r>
            <a:endParaRPr lang="en-US" sz="1300" dirty="0"/>
          </a:p>
        </p:txBody>
      </p:sp>
      <p:sp>
        <p:nvSpPr>
          <p:cNvPr id="12" name="stat-card"/>
          <p:cNvSpPr/>
          <p:nvPr/>
        </p:nvSpPr>
        <p:spPr>
          <a:xfrm>
            <a:off x="9052560" y="1417320"/>
            <a:ext cx="25877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52704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Mgr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67128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Approval level (discount ≤ 3%)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2608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Minimum acceptable price is ₹7.53/Wp, so up to 7.1% discount is possible before breaching the 12% CM floor.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Competitor B offers ₹7.60/Wp. Matching it leaves CM at 12.8%, only 0.8 pts above the floor with no buffer for steel moves.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Hold price and sell value: steel-index clause and an independent yield review instead of further discount.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Fallback: up to 5% discount (CM ≈ 13.9%) with Sales Director approval, in exchange for a 20% advance.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675120" y="2834640"/>
          <a:ext cx="49834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tracker pays back in ~5.5 years for the customer (simulated)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7680960" y="1417320"/>
            <a:ext cx="39593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52704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+17.0% energy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167128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Planning case (PVGIS ideal +24.3%, 70% realised)</a:t>
            </a:r>
            <a:endParaRPr lang="en-US" sz="1300" dirty="0"/>
          </a:p>
        </p:txBody>
      </p:sp>
      <p:sp>
        <p:nvSpPr>
          <p:cNvPr id="7" name="stat-card"/>
          <p:cNvSpPr/>
          <p:nvPr/>
        </p:nvSpPr>
        <p:spPr>
          <a:xfrm>
            <a:off x="7680960" y="2788920"/>
            <a:ext cx="39593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289864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₹26.8 cr NPV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538728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Tracker vs fixed-tilt @ 9%; IRR 17.3%</a:t>
            </a:r>
            <a:endParaRPr lang="en-US" sz="1300" dirty="0"/>
          </a:p>
        </p:txBody>
      </p:sp>
      <p:sp>
        <p:nvSpPr>
          <p:cNvPr id="10" name="stat-card"/>
          <p:cNvSpPr/>
          <p:nvPr/>
        </p:nvSpPr>
        <p:spPr>
          <a:xfrm>
            <a:off x="7680960" y="4160520"/>
            <a:ext cx="39593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427024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₹10.54/Wp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910328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Break-even tracker price vs our ₹7.86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553212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Our ₹2.57 cr premium over the competitor is recovered by 0.6% extra yield.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Steel price, not FX, is the main margin risk on this deal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17320"/>
            <a:ext cx="3886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About 70% of direct cost (₹4.50 of ₹6.43/Wp) is steel-linked. A +10% steel move takes CM to 9.9%, below the floor.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Imported drives and controllers are about 19% of cost: +₹2.5/USD costs only ≈0.4 pts of CM.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Mitigation: index-linked steel clause (±5% band, 50/50 share), and lock steel purchase within 2 weeks of PO.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FX: hedge the USD content at order. No pass-through needed.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Q4 weighted forecast is $353M, up $23.4M week on week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8183880" y="1417320"/>
            <a:ext cx="345643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66760" y="152704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$264M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16712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Floor: Closed + Commit</a:t>
            </a:r>
            <a:endParaRPr lang="en-US" sz="1300" dirty="0"/>
          </a:p>
        </p:txBody>
      </p:sp>
      <p:sp>
        <p:nvSpPr>
          <p:cNvPr id="7" name="stat-card"/>
          <p:cNvSpPr/>
          <p:nvPr/>
        </p:nvSpPr>
        <p:spPr>
          <a:xfrm>
            <a:off x="8183880" y="2788920"/>
            <a:ext cx="345643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89864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$353M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53872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 likely: weighted</a:t>
            </a:r>
            <a:endParaRPr lang="en-US" sz="1300" dirty="0"/>
          </a:p>
        </p:txBody>
      </p:sp>
      <p:sp>
        <p:nvSpPr>
          <p:cNvPr id="10" name="stat-card"/>
          <p:cNvSpPr/>
          <p:nvPr/>
        </p:nvSpPr>
        <p:spPr>
          <a:xfrm>
            <a:off x="8183880" y="4160520"/>
            <a:ext cx="345643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427024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$457M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91032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Stretch: + Best Case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53212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Thar Sun ($8.3M) sits in Best Case at Proposal/Quote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Value pitches win about twice as often as price pitches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3093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132320" y="141732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Overall win rate 38% on 86 closed deals. Bankability (59%) and energy yield (47%) pitches lead. "Lowest capex" wins 24% at a lower CM.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Price causes 32% of losses and fixed-tilt 23%. Both are answered by the customer value case, not by discount.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Existing customers convert at 64%. Prioritise repeat-customer pipeline and references.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Next: add a loss-reason validation rule in Salesforce, re-test with real data, and track hit rate monthly.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 Deal Desk">
  <a:themeElements>
    <a:clrScheme name="Solar Deal Desk">
      <a:dk1>
        <a:srgbClr val="1B1B1B"/>
      </a:dk1>
      <a:lt1>
        <a:srgbClr val="FFFFFF"/>
      </a:lt1>
      <a:dk2>
        <a:srgbClr val="14213D"/>
      </a:dk2>
      <a:lt2>
        <a:srgbClr val="F3F5F9"/>
      </a:lt2>
      <a:accent1>
        <a:srgbClr val="F2A900"/>
      </a:accent1>
      <a:accent2>
        <a:srgbClr val="2A78D6"/>
      </a:accent2>
      <a:accent3>
        <a:srgbClr val="1BAF7A"/>
      </a:accent3>
      <a:accent4>
        <a:srgbClr val="C0392B"/>
      </a:accent4>
      <a:accent5>
        <a:srgbClr val="8A94A6"/>
      </a:accent5>
      <a:accent6>
        <a:srgbClr val="FCE8B2"/>
      </a:accent6>
      <a:hlink>
        <a:srgbClr val="2A78D6"/>
      </a:hlink>
      <a:folHlink>
        <a:srgbClr val="6250D6"/>
      </a:folHlink>
    </a:clrScheme>
    <a:fontScheme name="Solar Deal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Thar Sun 100 MWp - Deal Desk Recommendation</dc:title>
  <dc:subject>PptxGenJS Presentation</dc:subject>
  <dc:creator>PptxGenJS</dc:creator>
  <cp:lastModifiedBy>PptxGenJS</cp:lastModifiedBy>
  <cp:revision>1</cp:revision>
  <dcterms:created xsi:type="dcterms:W3CDTF">2026-10-24T18:12:09Z</dcterms:created>
  <dcterms:modified xsi:type="dcterms:W3CDTF">2026-10-24T18:12:09Z</dcterms:modified>
</cp:coreProperties>
</file>